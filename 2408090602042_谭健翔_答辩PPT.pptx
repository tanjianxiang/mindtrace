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70" r:id="rId7"/>
    <p:sldId id="258" r:id="rId8"/>
    <p:sldId id="259" r:id="rId9"/>
    <p:sldId id="269" r:id="rId10"/>
    <p:sldId id="260" r:id="rId11"/>
    <p:sldId id="272" r:id="rId12"/>
    <p:sldId id="261" r:id="rId13"/>
    <p:sldId id="262" r:id="rId14"/>
    <p:sldId id="273" r:id="rId15"/>
    <p:sldId id="263" r:id="rId16"/>
    <p:sldId id="264" r:id="rId17"/>
    <p:sldId id="265" r:id="rId18"/>
    <p:sldId id="266" r:id="rId19"/>
    <p:sldId id="274" r:id="rId20"/>
    <p:sldId id="267" r:id="rId21"/>
    <p:sldId id="268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老师，下午好。我是数媒2401班的[你的姓名]。今天我将向大家汇报我的期末大作业——“心迹”，一个AI情感陪伴网页系统。本次汇报将围绕项目背景、需求分析、系统设计、功能实现、测试以及总结展望六个方面展开。希望通过这次汇报，能让大家对我的项目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项目的整体情况，包括它的背景、目标和技术选型。接着，会深入到需求分析和系统设计阶段。之后，我会重点展示项目的核心功能实现。然后是系统测试的相关情况。最后，对整个项目进行总结并对未来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项目历时9周，遵循了标准的软件工程流程。从最初的选题调研，到需求设计，再到核心的编码实现，每一步都有条不紊。之后是严格的测试与修复阶段，确保了系统的稳定性。最后，完成了项目部署和所有文档的撰写。这个过程让我对软件开发的全生命周期有了深刻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概述部分。我们都知道，当代年轻人面临着巨大的压力，但有效的情绪疏导渠道却很有限。市面上的APP又存在各种不便。因此，我决定开发“心迹”这样一款轻量、免安装、高私密的网页应用，旨在为用户提供一个便捷的情绪支持平台。这个项目不仅具有积极的社会价值，也是我个人对软件工程全流程的一次完整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目标非常明确：功能上，要实现AI陪伴、艺术生成等一系列核心功能；技术上，要打造一个真正的PWA应用；文档上，要产出符合规范的全套文档。为此，我选择了一套轻量而强大的技术栈，包括原生JavaScript、Tailwind CSS用于前端开发，利用PWA技术实现核心能力，并通过GitHub进行版本控制和免费部署。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为了实现项目目标，我选择了一套轻量而强大的技术栈。前端采用原生JavaScript和Tailwind CSS，确保了开发效率和页面美观。PWA技术是本项目的核心，它赋予了网页离线访问和桌面安装的能力。同时，利用Chart.js和Canvas API分别实现了数据可视化和艺术生成。整个开发过程使用Git进行版本控制，并最终部署在免费的GitHub Pages平台上。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需求分析阶段。通过对用户需求的梳理，我确定了九大核心功能模块，涵盖了从用户管理到AI陪伴，再到日记、冥想等辅助功能。同时，也明确了性能、兼容性、安全性和易用性等非功能性需求，确保系统不仅功能完备，而且体验优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功能需求，非功能性需求同样重要。我为系统设定了明确的性能、兼容性、安全性和易用性目标。例如，要求页面加载速度快，能兼容各种设备，最重要的是，确保用户数据的绝对安全和隐私。这些要求共同保证了“心迹”系统的高品质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系统设计阶段。我设计了一个纯前端的三层架构，分别是表现层、业务逻辑层和本地存储层。这种架构清晰地分离了关注点，便于开发和维护。在此基础上，我将系统划分为10个核心功能模块，每个模块各司其职，共同构成了“心迹”系统的完整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存储方面，为了最大化保护用户隐私，我选择使用浏览器的LocalStorage进行本地存储，所有数据都保存在用户自己的设备上。我设计了六大核心数据实体来组织这些信息。在界面设计上，我遵循治愈、简约的原则，力求为用户提供一个舒适、美观的视觉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核心功能。首先是AI情感陪伴聊天。它最大的亮点是实现了流式回复，让AI的回应就像一个真实的朋友在和你聊天。同时，我设计了智能的离线兜底机制，确保即使在没有网络的情况下，用户也能获得安慰和陪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进入核心功能实现部分。首先是AI情感陪伴聊天，它最大的亮点是实现了流式回复，让AI的回应更具真实感。同时，我设计了离线兜底机制，确保用户在任何网络环境下都能获得陪伴。另一个核心功能是情绪艺术生成，用户可以将自己的心情转化为一幅独特的艺术画作，并支持下载分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辅助功能方面，心情日记模块允许用户记录心路历程。系统会基于这些记录，通过Chart.js生成直观的情绪分析图表，帮助用户更好地了解自己。此外，我还加入了呼吸冥想和治愈小游戏，为用户提供更多元化的放松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作为一个PWA应用，“心迹”具备了两个非常重要的特性。第一是“添加到桌面”，让网页拥有了APP般的体验。第二是“离线访问”，这意味着即使在没有网络的情况下，用户依然可以回顾自己的心情记录，真正做到了随时随地陪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系统质量，我进行了全面的系统测试。测试覆盖了多种设备和浏览器，采用手工黑盒测试的方法。结果显示，40条测试用例通过率达到95%，发现的5个Bug中，3个功能性Bug已全部修复，剩余2个为不影响使用的轻微UI瑕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测试过程中，我发现并修复了几个典型的Bug。例如，曾出现过艺术画布线条溢出的问题，通过增加坐标边界限制得到了解决。还有一个问题是在没有数据时图表会显示错乱，我通过增加空数据判断，确保了界面的友好性和稳定性。这些修复过程极大地锻炼了我的问题排查和解决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项目进行总结。我很高兴地告诉大家，项目的所有预定目标都已圆满完成。通过这次实践，我不仅巩固了软件工程理论，提升了技术能力，更锻炼了解决实际问题的综合素养。当然，项目也存在一些不足，比如数据无法跨设备同步，情绪识别算法还比较初级。这些都将是我未来改进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我的汇报到此结束。感谢各位老师的耐心聆听，欢迎各位老师提问与交流。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0" Type="http://schemas.openxmlformats.org/officeDocument/2006/relationships/notesSlide" Target="../notesSlides/notesSlide5.xml"/><Relationship Id="rId2" Type="http://schemas.openxmlformats.org/officeDocument/2006/relationships/image" Target="../media/image20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0.svg"/><Relationship Id="rId17" Type="http://schemas.openxmlformats.org/officeDocument/2006/relationships/image" Target="../media/image9.png"/><Relationship Id="rId16" Type="http://schemas.openxmlformats.org/officeDocument/2006/relationships/image" Target="../media/image34.svg"/><Relationship Id="rId15" Type="http://schemas.openxmlformats.org/officeDocument/2006/relationships/image" Target="../media/image33.png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26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4.svg"/><Relationship Id="rId11" Type="http://schemas.openxmlformats.org/officeDocument/2006/relationships/image" Target="../media/image43.png"/><Relationship Id="rId10" Type="http://schemas.openxmlformats.org/officeDocument/2006/relationships/image" Target="../media/image42.svg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8" Type="http://schemas.openxmlformats.org/officeDocument/2006/relationships/notesSlide" Target="../notesSlides/notesSlide7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66.svg"/><Relationship Id="rId25" Type="http://schemas.openxmlformats.org/officeDocument/2006/relationships/image" Target="../media/image65.png"/><Relationship Id="rId24" Type="http://schemas.openxmlformats.org/officeDocument/2006/relationships/image" Target="../media/image64.svg"/><Relationship Id="rId23" Type="http://schemas.openxmlformats.org/officeDocument/2006/relationships/image" Target="../media/image63.png"/><Relationship Id="rId22" Type="http://schemas.openxmlformats.org/officeDocument/2006/relationships/image" Target="../media/image62.svg"/><Relationship Id="rId21" Type="http://schemas.openxmlformats.org/officeDocument/2006/relationships/image" Target="../media/image61.png"/><Relationship Id="rId20" Type="http://schemas.openxmlformats.org/officeDocument/2006/relationships/image" Target="../media/image60.svg"/><Relationship Id="rId2" Type="http://schemas.openxmlformats.org/officeDocument/2006/relationships/image" Target="../media/image46.svg"/><Relationship Id="rId19" Type="http://schemas.openxmlformats.org/officeDocument/2006/relationships/image" Target="../media/image59.png"/><Relationship Id="rId18" Type="http://schemas.openxmlformats.org/officeDocument/2006/relationships/image" Target="../media/image36.svg"/><Relationship Id="rId17" Type="http://schemas.openxmlformats.org/officeDocument/2006/relationships/image" Target="../media/image35.png"/><Relationship Id="rId16" Type="http://schemas.openxmlformats.org/officeDocument/2006/relationships/image" Target="../media/image58.svg"/><Relationship Id="rId15" Type="http://schemas.openxmlformats.org/officeDocument/2006/relationships/image" Target="../media/image57.png"/><Relationship Id="rId14" Type="http://schemas.openxmlformats.org/officeDocument/2006/relationships/image" Target="../media/image38.svg"/><Relationship Id="rId13" Type="http://schemas.openxmlformats.org/officeDocument/2006/relationships/image" Target="../media/image37.png"/><Relationship Id="rId12" Type="http://schemas.openxmlformats.org/officeDocument/2006/relationships/image" Target="../media/image56.svg"/><Relationship Id="rId11" Type="http://schemas.openxmlformats.org/officeDocument/2006/relationships/image" Target="../media/image55.png"/><Relationship Id="rId10" Type="http://schemas.openxmlformats.org/officeDocument/2006/relationships/image" Target="../media/image54.svg"/><Relationship Id="rId1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svg"/><Relationship Id="rId7" Type="http://schemas.openxmlformats.org/officeDocument/2006/relationships/image" Target="../media/image65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pn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3" Type="http://schemas.openxmlformats.org/officeDocument/2006/relationships/image" Target="../media/image69.png"/><Relationship Id="rId2" Type="http://schemas.openxmlformats.org/officeDocument/2006/relationships/image" Target="../media/image68.svg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76.svg"/><Relationship Id="rId13" Type="http://schemas.openxmlformats.org/officeDocument/2006/relationships/image" Target="../media/image75.png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74.svg"/><Relationship Id="rId1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80.svg"/><Relationship Id="rId3" Type="http://schemas.openxmlformats.org/officeDocument/2006/relationships/image" Target="../media/image79.png"/><Relationship Id="rId2" Type="http://schemas.openxmlformats.org/officeDocument/2006/relationships/image" Target="../media/image78.sv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84.svg"/><Relationship Id="rId11" Type="http://schemas.openxmlformats.org/officeDocument/2006/relationships/image" Target="../media/image83.png"/><Relationship Id="rId10" Type="http://schemas.openxmlformats.org/officeDocument/2006/relationships/image" Target="../media/image82.svg"/><Relationship Id="rId1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0.svg"/><Relationship Id="rId7" Type="http://schemas.openxmlformats.org/officeDocument/2006/relationships/image" Target="../media/image89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Relationship Id="rId3" Type="http://schemas.openxmlformats.org/officeDocument/2006/relationships/image" Target="../media/image85.png"/><Relationship Id="rId2" Type="http://schemas.openxmlformats.org/officeDocument/2006/relationships/image" Target="../media/image82.sv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4.svg"/><Relationship Id="rId3" Type="http://schemas.openxmlformats.org/officeDocument/2006/relationships/image" Target="../media/image83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92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0.svg"/><Relationship Id="rId7" Type="http://schemas.openxmlformats.org/officeDocument/2006/relationships/image" Target="../media/image99.png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96.svg"/><Relationship Id="rId3" Type="http://schemas.openxmlformats.org/officeDocument/2006/relationships/image" Target="../media/image95.png"/><Relationship Id="rId2" Type="http://schemas.openxmlformats.org/officeDocument/2006/relationships/image" Target="../media/image16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105.svg"/><Relationship Id="rId3" Type="http://schemas.openxmlformats.org/officeDocument/2006/relationships/image" Target="../media/image104.png"/><Relationship Id="rId2" Type="http://schemas.openxmlformats.org/officeDocument/2006/relationships/image" Target="../media/image103.svg"/><Relationship Id="rId1" Type="http://schemas.openxmlformats.org/officeDocument/2006/relationships/image" Target="../media/image10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524000" y="4826000"/>
            <a:ext cx="4445000" cy="4445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心迹（MindTrace）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AI情感陪伴网页系统设计与实现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《软件工程》课程期末大作业答辩汇报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54610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 / 学号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谭健翔</a:t>
            </a: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 | [2408090602042]</a:t>
            </a:r>
            <a:endParaRPr lang="en-US" sz="15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31254">
            <a:off x="4254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826000" y="546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专业班级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数字媒体艺术 2402班</a:t>
            </a:r>
            <a:endParaRPr lang="en-US" sz="15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31254">
            <a:off x="7683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255000" y="5461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 &amp; 日期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钟云飞 老师 | 2026年6月25日</a:t>
            </a:r>
            <a:endParaRPr lang="en-US" sz="15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12700"/>
          </a:xfrm>
          <a:prstGeom prst="roundRect">
            <a:avLst>
              <a:gd name="adj" fmla="val 0"/>
            </a:avLst>
          </a:prstGeom>
          <a:solidFill>
            <a:srgbClr val="A78BFA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1905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从项目背景出发，明确建设目标与核心价值，梳理技术选型的关键考量与决策依据。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3556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深入调研业务场景，拆解核心功能需求，同时界定系统性能、安全等非功能性指标。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032000" y="5207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构建整体系统架构，划分功能模块，设计数据流转模型与直观友好的用户操作界面。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1905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0" y="1905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核心功能实现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逐一演示核心模块的功能落地，解析关键技术难点的攻克方案与实现细节。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0000" y="3429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355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0" y="3556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系统测试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展示单元测试、集成测试与验收测试的完整流程，呈现系统稳定性与准确性的测试结果。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0" y="5080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04000" y="520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0" y="5207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复盘项目实施过程中的经验与不足，结合业务发展趋势，规划系统未来的迭代方向。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项目开发历程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DEVELOPMENT PROCESS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286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03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540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952500" y="3175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选题与调研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1 - 2</a:t>
            </a:r>
            <a:endParaRPr lang="en-US" sz="1300" b="0" i="0" u="none" strike="noStrike">
              <a:solidFill>
                <a:srgbClr val="374151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26443">
            <a:off x="952524" y="4184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4445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明确项目核心方向，深入分析目标用户真实需求，为后续开发奠定坚实基础。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48000" y="2286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048000" y="2286000"/>
            <a:ext cx="203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254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238500" y="3175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需求与设计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3 - 4</a:t>
            </a:r>
            <a:endParaRPr lang="en-US" sz="1300" b="0" i="0" u="none" strike="noStrike">
              <a:solidFill>
                <a:srgbClr val="374151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26443">
            <a:off x="3238524" y="4184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238500" y="4445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撰写详细的需求规格说明书，完成系统概要设计与功能模块的详细页面规划。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334000" y="2286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334000" y="2286000"/>
            <a:ext cx="203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2540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524500" y="3175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编码与实现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5 - 7</a:t>
            </a:r>
            <a:endParaRPr lang="en-US" sz="1300" b="0" i="0" u="none" strike="noStrike">
              <a:solidFill>
                <a:srgbClr val="374151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26443">
            <a:off x="5524524" y="4184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5524500" y="4445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完成前端交互页面、核心业务逻辑编写，并实现PWA离线访问等关键功能。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0" y="2286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0" y="2286000"/>
            <a:ext cx="203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0500" y="2540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810500" y="3175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测试与修复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8</a:t>
            </a:r>
            <a:endParaRPr lang="en-US" sz="1300" b="0" i="0" u="none" strike="noStrike">
              <a:solidFill>
                <a:srgbClr val="374151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26443">
            <a:off x="7810524" y="4184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810500" y="4445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执行多轮系统功能测试与兼容性测试，排查潜在Bug并完成修复与性能优化。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779000" y="2286000"/>
            <a:ext cx="2032000" cy="3048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779000" y="2286000"/>
            <a:ext cx="203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69500" y="25400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969500" y="3175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部署与文档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Week 9</a:t>
            </a:r>
            <a:endParaRPr lang="en-US" sz="1300" b="0" i="0" u="none" strike="noStrike">
              <a:solidFill>
                <a:srgbClr val="374151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33"/>
          <p:cNvCxnSpPr/>
          <p:nvPr/>
        </p:nvCxnSpPr>
        <p:spPr>
          <a:xfrm rot="-26443">
            <a:off x="9969524" y="4184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9969500" y="4445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完成项目环境部署与上线，整理撰写最终开发文档，并准备项目答辩材料。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5842000"/>
            <a:ext cx="11049000" cy="6350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52500" y="5943600"/>
            <a:ext cx="1066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通过这九个周标准化的软件工程流程实践，我完整经历了从0到1的开发全生命周期，深刻掌握了软件开发的核心逻辑与协作规范。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社会痛点：无处安放的情绪压力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794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当代年轻人承受着学业与工作的双重重压，却普遍面临情绪疏导渠道匮乏的困境。专业心理咨询存在门槛高、私密性不足等问题，使得许多人难以获取有效帮助，负面情绪长期积压。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595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95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市场现状：现有工具的使用局限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2794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目前市面上的情绪类产品多为客户端APP，不仅占用手机存储空间，还充斥着各类广告弹窗，操作流程繁琐。用户在需要即时情绪支持时，往往因安装、注册等步骤而放弃，使用体验大打折扣。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50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项目定位：轻量私密的PWA情绪空间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207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开发一款</a:t>
            </a: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轻量化、免安装、高私密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的PWA网页应用，无需下载即可使用，数据本地存储保障隐私。为用户打造一个随时可及、安全舒适的一站式情绪疏导与自我关怀平台。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1595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508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项目意义：价值与成长的双向奔赴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477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77000" y="5207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既为用户提供了低成本、无负担的情绪支持工具，创造积极社会价值；也完整实践了软件工程全流程，熟练掌握PWA开发、前端工程化、版本控制等核心技术，实现个人技术能力的全面提升。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03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114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构建一体化情感关怀平台，融合AI情感陪伴、情绪艺术生成、心情日记记录、冥想引导与治愈小游戏，全方位关照用户心理健康。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87500" y="3581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技术实现目标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0894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打造纯前端PWA应用，利用Service Worker实现离线访问与资源缓存，支持桌面端一键安装，兼顾移动端与桌面端的使用体验。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5232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规范文档目标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7404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严格遵循国家标准与软件工程规范，产出需求分析、设计文档、测试报告及用户手册等全套文档，确保项目交付的规范性与完整性。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90953">
            <a:off x="3873500" y="4057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540500" y="1651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1778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1778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前端开发技术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9644">
            <a:off x="6667518" y="2216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67500" y="2349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采用HTML5 + JS + Tailwind CSS组合，兼顾轻量高效与响应式布局，快速构建美观且适配多端的界面。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07500" y="1651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4500" y="1778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715500" y="17780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PWA核心能力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9644">
            <a:off x="9334518" y="2216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334500" y="2349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通过Manifest与Service Worker实现应用的离线访问、消息推送及桌面安装，提升用户留存与体验。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40500" y="33655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3492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12000" y="3492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数据可视化方案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9644">
            <a:off x="6667518" y="393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667500" y="40640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选用Chart.js轻量级图表库，直观绘制用户情绪变化趋势、日记统计等数据图表，让数据更具可读性。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207500" y="33655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34500" y="34925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715500" y="3492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情绪艺术生成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19644">
            <a:off x="9334518" y="393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9334500" y="40640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利用HTML Canvas API实现动态绘图功能，将用户情绪数据转化为独一无二的艺术画作，增强互动性与趣味性。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540500" y="5080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67500" y="5207000"/>
            <a:ext cx="304800" cy="3048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7112000" y="5207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版本与协作管理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19644">
            <a:off x="6667518" y="5645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6667500" y="5715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使用Git + GitHub进行代码版本控制，支持多人协作开发，确保代码迭代的可追溯性与安全性。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207500" y="5080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34500" y="5207000"/>
            <a:ext cx="304800" cy="3048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9715500" y="52070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应用部署与发布</a:t>
            </a:r>
            <a:endParaRPr lang="en-US" sz="1100"/>
          </a:p>
        </p:txBody>
      </p:sp>
      <p:cxnSp>
        <p:nvCxnSpPr>
          <p:cNvPr id="47" name="Connector 47"/>
          <p:cNvCxnSpPr/>
          <p:nvPr/>
        </p:nvCxnSpPr>
        <p:spPr>
          <a:xfrm rot="-19644">
            <a:off x="9334518" y="5645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9334500" y="5715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依托GitHub Pages免费托管静态资源，实现应用的快速部署与发布，降低运维成本，提升访问便捷性。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95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前端技术构建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67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方案：HTML5 + JS + Tailwind CSS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理由：原生技术栈轻量无负担，结合Tailwind CSS实现高效开发与多端响应式适配，兼顾美观与性能。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08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746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746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核心体验升级（PWA）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10160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318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方案：PWA (Manifest + Service Worker)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理由：赋予网页类原生应用的能力，支持离线访问、桌面快捷安装，大幅提升用户留存与使用便捷性。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143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508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270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数据可视化呈现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1016008" y="5645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715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方案：Chart.js 图表库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理由：轻量级开源图表库，语法简洁，能快速实现情绪数据的多维度统计与可视化展示，直观反馈情绪趋势。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90708">
            <a:off x="3898900" y="4248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13500" y="1905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13500" y="1905000"/>
            <a:ext cx="508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2095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75500" y="2095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创意绘图与生成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167">
            <a:off x="66675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667500" y="2667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方案：HTML Canvas 2D API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理由：直接操作像素级绘图，实现情绪色彩的动态艺术化生成，为用户提供独一无二的视觉表达与情感宣泄载体。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13500" y="355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13500" y="3556000"/>
            <a:ext cx="508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3746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175500" y="3746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开发流程管控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9167">
            <a:off x="66675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667500" y="4318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方案：Git + GitHub 协作管理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理由：采用成熟的分布式版本控制工具，保障代码迭代的可追溯性与安全性，同时便于团队协作与开源分享。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13500" y="5143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413500" y="5143500"/>
            <a:ext cx="508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52705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175500" y="5270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生产环境部署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9167">
            <a:off x="6667508" y="5645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6667500" y="5715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方案：GitHub Pages 静态托管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理由：免费且稳定的静态站点托管服务，无需配置复杂服务器，支持自动构建与发布，降低运维成本与门槛。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需求分析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REQUIREMENT ANALYSIS：从功能实现到体验打磨的全方位规划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54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752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用户账号管理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提供注册、登录及个人信息维护功能，支持手机号、第三方账号快捷登录，保障账户安全与信息同步。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149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AI情感陪伴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24小时在线AI对话疏导，支持聊天历史记录留存，提供离线兜底回复，让用户随时获得情感支撑。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508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419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情绪艺术生成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基于用户输入的情绪关键词，生成多风格治愈系画作，支持作品下载与社交平台一键分享。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3815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184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16500" y="1752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心情日记记录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支持文字、图片记录心情，添加情绪标签分类，自动统计每日情绪分布数据，形成可视化日志。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815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3238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016500" y="3149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呼吸冥想引导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提供腹式呼吸、478呼吸等多模式计时引导，记录冥想打卡时长，帮助用户快速平复情绪。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3815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4508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16500" y="4419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治愈减压小游戏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内置四款轻量治愈小游戏，操作简单无压力，系统自动记录游戏最高分，为用户提供轻松的放松方式。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0010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500" y="1841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636000" y="1752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智能情绪分析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通过NLP技术分析日记与对话内容，生成情绪趋势图表，AI基于数据提供个性化的心理疏导建议。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0010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91500" y="3238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636000" y="3149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历史记录管理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统一聚合对话、日记、艺术作品等全量历史记录，支持按时间筛选、单条或批量删除操作。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0010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91500" y="4508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636000" y="44196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PWA全端适配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支持添加至手机桌面、离线访问核心功能，配置消息推送服务，提升用户留存与使用便捷性。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2" name="Connector 32"/>
          <p:cNvCxnSpPr/>
          <p:nvPr/>
        </p:nvCxnSpPr>
        <p:spPr>
          <a:xfrm rot="-4092">
            <a:off x="762004" y="5645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62000" y="5842000"/>
            <a:ext cx="254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89000" y="5969000"/>
            <a:ext cx="254000" cy="2540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270000" y="5905500"/>
            <a:ext cx="196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性能高效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页面加载≤2s，交互无卡顿，保障流畅体验。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3467100" y="5842000"/>
            <a:ext cx="254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594100" y="5969000"/>
            <a:ext cx="254000" cy="2540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3975100" y="5905500"/>
            <a:ext cx="196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多端兼容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完美适配PC及移动端主流浏览器，响应式布局。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6172200" y="5842000"/>
            <a:ext cx="254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99200" y="5969000"/>
            <a:ext cx="254000" cy="2540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6680200" y="5905500"/>
            <a:ext cx="196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隐私安全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敏感数据本地加密存储，严格保护用户隐私信息。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8877300" y="5842000"/>
            <a:ext cx="254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004300" y="5969000"/>
            <a:ext cx="254000" cy="25400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9385300" y="5905500"/>
            <a:ext cx="196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简洁易用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界面直观清晰，操作流程极简，降低学习成本。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需求分析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A78BF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68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930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性能需求：流畅高效，极速响应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730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严格把控页面加载时间，确保在2秒内完成资源获取与渲染；优化交互逻辑，杜绝操作卡顿；提升画布渲染算法，保障核心功能的流畅运行体验。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77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595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1930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兼容性需求：全端适配，广泛覆盖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2730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完美兼容Chrome、Edge、Firefox等PC端主流浏览器，同时适配Safari、微信浏览器等移动端环境；页面布局采用响应式设计，自适应不同分辨率的屏幕尺寸。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381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434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安全性需求：隐私为本，数据可控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143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坚持数据本地化存储原则，所有用户内容不上传云端；系统不采集任何敏感个人信息，从技术层面确保数据存储的稳定性与安全性，让用户用得放心。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1595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81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434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易用性需求：简洁直观，零门槛上手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477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77000" y="5143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界面设计遵循简约治愈的风格，去除冗余元素；操作流程逻辑清晰，符合用户直觉；在关键节点提供友好的提示与引导，降低用户的学习成本与使用门槛。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4445000" cy="4445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系统设计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▍总体架构：纯前端三层解耦体系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76200" cy="1079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730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2667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表现层 (UI Layer)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以HTML页面为载体，结合CSS完成界面视觉呈现，专注于用户交互与操作反馈，打造简洁治愈的使用体验。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810000"/>
            <a:ext cx="76200" cy="1079500"/>
          </a:xfrm>
          <a:prstGeom prst="roundRect">
            <a:avLst>
              <a:gd name="adj" fmla="val 0"/>
            </a:avLst>
          </a:prstGeom>
          <a:solidFill>
            <a:srgbClr val="A78BF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3937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业务逻辑层 (Logic Layer)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基于JavaScript脚本实现核心逻辑，封装AI交互、情绪分析与功能调度，确保业务流程的独立性与可维护性。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76200" cy="1079500"/>
          </a:xfrm>
          <a:prstGeom prst="roundRect">
            <a:avLst>
              <a:gd name="adj" fmla="val 0"/>
            </a:avLst>
          </a:prstGeom>
          <a:solidFill>
            <a:srgbClr val="A78BF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5207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本地存储层 (Storage Layer)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利用LocalStorage实现数据持久化，安全存储用户日记、创作内容与偏好设置，保障数据在客户端的独立性。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5389738">
            <a:off x="4222750" y="40259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604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▍功能模块：十大核心单元协同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2540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2667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26670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用户管理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账户注册、登录及个人信息与偏好的统一管理。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080500" y="2540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0" y="2667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588500" y="26670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心灵对话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基于大模型的情感陪伴聊天，提供即时心理疏导。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604000" y="38735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31000" y="4000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12000" y="4000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艺术疗愈生成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将情绪转化为视觉艺术作品，实现创造性的情绪表达。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9080500" y="38735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07500" y="4000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588500" y="4000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心情日记系统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支持文字、图片记录心情轨迹，回溯情绪变化历程。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604000" y="5270500"/>
            <a:ext cx="4826000" cy="952500"/>
          </a:xfrm>
          <a:prstGeom prst="roundRect">
            <a:avLst>
              <a:gd name="adj" fmla="val 0"/>
            </a:avLst>
          </a:prstGeom>
          <a:solidFill>
            <a:srgbClr val="A78BF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731000" y="53340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扩展功能矩阵：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冥想引导、轻量治愈游戏、智能情绪分析、历史记录复盘、PWA离线服务及公共心理工具库，构建完整的心灵关怀闭环。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524000"/>
            <a:ext cx="5080000" cy="5080000"/>
          </a:xfrm>
          <a:prstGeom prst="ellipse">
            <a:avLst/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4445000"/>
            <a:ext cx="3810000" cy="3810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数据存储设计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384">
            <a:off x="762008" y="2343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667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857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8575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隐私优先的本地化存储方案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365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摒弃传统服务端数据库，选用浏览器 LocalStorage 作为唯一存储介质。数据完全留存于用户设备本地，不经过网络传输，从根源上保障用户隐私安全，避免云端泄露风险。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8895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 JSON 核心数据实体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33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构建用户、聊天记录、心情日记、AI画作、收藏夹、设置偏好共6大核心实体，采用层级清晰的JSON结构序列化存储，兼顾数据可读性与解析效率。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90450">
            <a:off x="4064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17780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界面原型设计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6604008" y="234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2667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28194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429500" y="28194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治愈系简约视觉原则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3327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以柔和紫与暖米色为主调，弱化强烈对比，通过留白与圆润元素营造松弛感，契合产品治愈心灵的核心定位。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4191000"/>
            <a:ext cx="1549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56400" y="4381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56400" y="4889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首页原型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756400" y="5334000"/>
            <a:ext cx="127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聚合核心功能入口，以每日心情卡片为视觉中心，直观呈现用户状态。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05800" y="4191000"/>
            <a:ext cx="1549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58200" y="43815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458200" y="4889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对话交互页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458200" y="5334000"/>
            <a:ext cx="127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气泡式对话布局，支持语音与文字输入，提供沉浸式的AI陪伴聊天体验。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880600" y="4191000"/>
            <a:ext cx="1549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33000" y="43815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033000" y="4889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艺术生成页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033000" y="5334000"/>
            <a:ext cx="127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极简的参数配置区与画廊式预览，让用户轻松将文字思绪转化为视觉画作。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36000" y="-1524000"/>
            <a:ext cx="5080000" cy="5080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4826000"/>
            <a:ext cx="3810000" cy="3810000"/>
          </a:xfrm>
          <a:prstGeom prst="ellipse">
            <a:avLst/>
          </a:prstGeom>
          <a:solidFill>
            <a:srgbClr val="A78BF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核心功能实现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1905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AI情感陪伴 · 流式真人交互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" y="2413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实现AI对话的流式回复效果，模拟真人逐字打字的节奏，消除机器冰冷感，让每一次回应都充满呼吸感，提升用户交互的真实沉浸体验。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A78BF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361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556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网络无感切换 · 离线兜底保障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" y="4064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内置智能网络监测模块，当网络不佳或API限流时，系统自动无缝切换至离线模拟对话模式，确保情感陪伴服务7*24小时永不中断。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A78B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27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52070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暖心记忆留存 · 本地对话归档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79500" y="5715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所有对话数据加密存储于本地设备，用户可随时回溯过往交流，让每一次温暖的对话都成为专属的情感记忆。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90177">
            <a:off x="4254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858000" y="1778000"/>
            <a:ext cx="4572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858000" y="1778000"/>
            <a:ext cx="4572000" cy="508000"/>
          </a:xfrm>
          <a:prstGeom prst="roundRect">
            <a:avLst>
              <a:gd name="adj" fmla="val 0"/>
            </a:avLst>
          </a:prstGeom>
          <a:solidFill>
            <a:srgbClr val="A78BF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8500" y="1879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493000" y="1879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暖心小语 AI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2667000"/>
            <a:ext cx="1968500" cy="635000"/>
          </a:xfrm>
          <a:prstGeom prst="roundRect">
            <a:avLst>
              <a:gd name="adj" fmla="val 0"/>
            </a:avLst>
          </a:prstGeom>
          <a:solidFill>
            <a:srgbClr val="A78BFA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398000" y="2768600"/>
            <a:ext cx="1714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今天有点不开心，感觉压力好大呀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048500" y="3683000"/>
            <a:ext cx="20955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175500" y="38100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抱抱你，辛苦啦。其实你已经做得很棒了，偶尔的情绪低落也是很正常的呀。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048500" y="5080000"/>
            <a:ext cx="1270000" cy="381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175500" y="51562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正在输入...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858000" y="584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让陪伴有温度，让回应有共鸣 ”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核心功能实现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2159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905000"/>
            <a:ext cx="571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AI情感陪伴聊天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7813">
            <a:off x="2032007" y="2533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032000" y="27305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实现AI对话的</a:t>
            </a: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流式回复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，模拟真人打字的自然节奏，提升交互的真实感与沉浸感；同时设计离线兜底机制，在网络波动时自动切换至离线模拟对话模式，保障陪伴服务的连续性与稳定性。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382000" y="1905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572500" y="2095500"/>
            <a:ext cx="2032000" cy="457200"/>
          </a:xfrm>
          <a:prstGeom prst="roundRect">
            <a:avLst>
              <a:gd name="adj" fmla="val 0"/>
            </a:avLst>
          </a:prstGeom>
          <a:solidFill>
            <a:srgbClr val="A78BF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572500" y="2730500"/>
            <a:ext cx="1524000" cy="457200"/>
          </a:xfrm>
          <a:prstGeom prst="roundRect">
            <a:avLst>
              <a:gd name="adj" fmla="val 0"/>
            </a:avLst>
          </a:prstGeom>
          <a:solidFill>
            <a:srgbClr val="37415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572500" y="3302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78BF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正在输入...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10668000" cy="2159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445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4445000"/>
            <a:ext cx="571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情绪艺术生成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7813">
            <a:off x="2032007" y="5073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2032000" y="52705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基于用户输入的情绪文本进行语义分析，结合抽象、极简等艺术风格参数，利用Canvas API动态渲染生成独一无二的视觉画作；支持画作高清下载与一键重新生成，让用户的内心情绪具象化、艺术化呈现。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4445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572500" y="4572000"/>
            <a:ext cx="1079500" cy="889000"/>
          </a:xfrm>
          <a:prstGeom prst="roundRect">
            <a:avLst>
              <a:gd name="adj" fmla="val 0"/>
            </a:avLst>
          </a:prstGeom>
          <a:solidFill>
            <a:srgbClr val="A78BFA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779000" y="4572000"/>
            <a:ext cx="1079500" cy="889000"/>
          </a:xfrm>
          <a:prstGeom prst="roundRect">
            <a:avLst>
              <a:gd name="adj" fmla="val 0"/>
            </a:avLst>
          </a:prstGeom>
          <a:solidFill>
            <a:srgbClr val="F472B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572500" y="5588000"/>
            <a:ext cx="2286000" cy="304800"/>
          </a:xfrm>
          <a:prstGeom prst="roundRect">
            <a:avLst>
              <a:gd name="adj" fmla="val 0"/>
            </a:avLst>
          </a:prstGeom>
          <a:solidFill>
            <a:srgbClr val="37415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636000" y="56388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“保存画作” / “重新生成”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核心功能实现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2159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1841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心情日记与情绪分析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7639">
            <a:off x="1143007" y="2343150"/>
            <a:ext cx="571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143000" y="2540000"/>
            <a:ext cx="584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支持用户记录每日心路历程并标记情绪标签，系统基于NLP技术分析历史数据，自动生成情绪分布饼图与波动折线图，结合AI算法为用户推送定制化的情绪疏导建议，帮助用户觉察和接纳自身情绪状态。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239000" y="1841500"/>
            <a:ext cx="1841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3000" y="2095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9845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情绪分布可视化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334500" y="1841500"/>
            <a:ext cx="1841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8500" y="2095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334500" y="29845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情绪波动趋势追踪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10668000" cy="2032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143000" y="4381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呼吸冥想与治愈小游戏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7639">
            <a:off x="1143007" y="4883150"/>
            <a:ext cx="571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143000" y="508000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内置腹式呼吸、478呼吸等多种引导模式，搭配温馨的视觉计时提醒；同时设计“情绪打地鼠”等四款轻量治愈小游戏，以轻松有趣的互动形式帮助用户在碎片化时间中释放压力，舒缓焦虑情绪。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0" y="4381500"/>
            <a:ext cx="1841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3000" y="4572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53975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沉浸式呼吸引导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34500" y="4381500"/>
            <a:ext cx="1841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8500" y="4572000"/>
            <a:ext cx="609600" cy="609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334500" y="53975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趣味解压小游戏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826000"/>
            <a:ext cx="3556000" cy="3556000"/>
          </a:xfrm>
          <a:prstGeom prst="ellipse">
            <a:avLst/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62000" y="-762000"/>
            <a:ext cx="2794000" cy="2794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核心功能实现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334000" cy="1841500"/>
          </a:xfrm>
          <a:prstGeom prst="roundRect">
            <a:avLst>
              <a:gd name="adj" fmla="val 0"/>
            </a:avLst>
          </a:prstGeom>
          <a:solidFill>
            <a:srgbClr val="A78BF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添加到桌面，原生APP般体验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046">
            <a:off x="1016008" y="304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238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用户可一键将“心迹”应用添加至手机或电脑桌面，无需下载应用商店，点击图标即可秒级启动，拥有与原生应用一致的流畅交互体验。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334000" cy="1841500"/>
          </a:xfrm>
          <a:prstGeom prst="roundRect">
            <a:avLst>
              <a:gd name="adj" fmla="val 0"/>
            </a:avLst>
          </a:prstGeom>
          <a:solidFill>
            <a:srgbClr val="A78BF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572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离线访问，记录永不失联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1016008" y="5327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546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基于PWA缓存技术，在无网络环境下用户仍可正常打开页面，查看本地存储的所有历史记录——包括心情日记、AI聊天对话与数字画作。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89422">
            <a:off x="4540250" y="408941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985000" y="2032000"/>
            <a:ext cx="4445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985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2500" y="2286000"/>
            <a:ext cx="812800" cy="812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382000" y="2222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桌面常驻 · 触手可及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82000" y="2794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突破网页边界，将应用图标固定在主屏幕，无需浏览器中转，打造沉浸式的独立使用入口。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0" y="4318000"/>
            <a:ext cx="4445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985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78BF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2500" y="4572000"/>
            <a:ext cx="812800" cy="812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382000" y="4508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本地缓存 · 全程陪伴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508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数据自动同步至本地，飞机、地铁等无网场景下，过往的心情故事依然清晰可查，记忆从不掉线。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系统测试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A78BF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78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多端多览，环境全覆盖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覆盖PC、安卓、iOS多终端设备，兼容Chrome、Edge、Safari主流浏览器，确保不同硬件与软件环境下的功能与展示一致性。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365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302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多维维度，无死角验证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测试范围涵盖功能完整性、系统响应性能、多端兼容性及长期运行可靠性，全面校验系统核心逻辑与边缘场景的处理能力。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889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826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手工黑盒，聚焦用户体验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采用手工黑盒测试方法，完全模拟真实用户的操作路径与使用习惯，重点验证用户实际感知的功能可用性与操作流畅度。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89738">
            <a:off x="4159250" y="37719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16510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A78BF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67500" y="1778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95%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50892">
            <a:off x="8064500" y="2279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699500" y="18415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测试用例通过率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共计执行40条核心测试用例，核心功能与流程均稳定达标，系统整体表现符合预期。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302000"/>
            <a:ext cx="5080000" cy="2159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9" name="AutoShape 19"/>
          <p:cNvSpPr/>
          <p:nvPr/>
        </p:nvSpPr>
        <p:spPr>
          <a:xfrm>
            <a:off x="6477000" y="57150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58166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注：发现的3个二级一般Bug已全部修复，2个三级轻微瑕疵为非功能性UI细节问题，不影响系统正常使用。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系统测试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A78BF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762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574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 B01：情绪艺术画布线条溢出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问题与根因：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选择超现实主义风格时，随机生成的绘图坐标超出画布边界导致画面截断，核心原因是坐标生成逻辑未设置宽高边界限制。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167">
            <a:off x="10160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4450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修复方案与效果：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在生成 x、y 坐标时增加 `Math.min()` 和 `Math.max()` 边界校验，确保所有绘制操作严格落在画布范围内。修复后各类艺术风格的绘图画面完整展示，无任何内容截断或溢出问题。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778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1778000"/>
            <a:ext cx="5270500" cy="762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095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20574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 B02：无数据时图表显示错乱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604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3048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问题与根因：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用户无日记或聊天记录时，情绪分析折线图坐标轴显示异常、布局混乱。原因是代码未做空数组判断，直接将空数据传入 Chart.js 进行渲染。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167">
            <a:off x="66040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604000" y="44450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修复方案与效果：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在图表渲染前增加数据长度非空校验逻辑。若检测为空数据，则展示“暂无情绪数据”的友好提示文案，且不执行图表渲染代码，保障了界面的稳定性与用户体验。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cap="flat" cmpd="sng">
            <a:solidFill>
              <a:srgbClr val="8566E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2700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714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651000"/>
            <a:ext cx="939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项目目标全面达成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对照项目预设目标，从核心功能开发、技术文档撰写到最终环境部署与验收，所有关键节点任务均已按计划圆满完成，系统运行稳定，达成了预期的实践与应用价值。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9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454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经验沉淀与能力收获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1016009" y="405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254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理论落地实践：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完整参与并掌握了软件工程从需求分析、架构设计到测试交付的标准流程，将书本中的理论知识切实转化为可落地、可运行的项目成果。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技术与综合素养双升：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熟练运用PWA、前端开发及Git版本控制工具；在问题排查、文档规范撰写和系统测试的过程中，全面提升了解决实际问题的综合能力。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3302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492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3454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现存不足与未来规划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405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4254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突破技术与数据瓶颈：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针对数据无法跨设备同步的“数据孤岛”问题，后续将引入后端云存储方案；同时替换更精准的NLP模型，优化情绪识别的判断逻辑与准确性。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20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丰富产品体验生态：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计划拓展多样化冥想引导模式，开发轻量级治愈系互动小游戏，增强用户参与感与沉浸感，让产品功能更贴合用户的心理疗愈需求。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525000" y="4445000"/>
            <a:ext cx="4445000" cy="4445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414000" y="1016000"/>
            <a:ext cx="1016000" cy="1016000"/>
          </a:xfrm>
          <a:prstGeom prst="ellipse">
            <a:avLst/>
          </a:prstGeom>
          <a:solidFill>
            <a:srgbClr val="A78BFA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69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A78B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444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欢迎各位老师提问与交流，共同探讨更多可能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6011</Words>
  <Application>WPS 演示</Application>
  <PresentationFormat/>
  <Paragraphs>409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谭健翔</cp:lastModifiedBy>
  <cp:revision>1</cp:revision>
  <dcterms:created xsi:type="dcterms:W3CDTF">2026-06-25T18:51:07Z</dcterms:created>
  <dcterms:modified xsi:type="dcterms:W3CDTF">2026-06-25T18:51:07Z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{"Label":"1","ContentProducer":"001191110102MACQD9K64010000","ProduceID":"7655338756035185614","ReservedCode1":"","ContentPropagator":"","PropagateID":"","ReservedCode2":""}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2A30299BF914453AB63D8256DDCD691C_12</vt:lpwstr>
  </property>
</Properties>
</file>